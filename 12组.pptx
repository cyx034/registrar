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89" r:id="rId7"/>
    <p:sldId id="343" r:id="rId8"/>
    <p:sldId id="344" r:id="rId9"/>
    <p:sldId id="346" r:id="rId10"/>
    <p:sldId id="347" r:id="rId11"/>
    <p:sldId id="369" r:id="rId12"/>
    <p:sldId id="334" r:id="rId13"/>
    <p:sldId id="269" r:id="rId14"/>
    <p:sldId id="336" r:id="rId15"/>
    <p:sldId id="338" r:id="rId16"/>
    <p:sldId id="337" r:id="rId17"/>
    <p:sldId id="339" r:id="rId18"/>
    <p:sldId id="340" r:id="rId19"/>
    <p:sldId id="342" r:id="rId20"/>
    <p:sldId id="267" r:id="rId21"/>
    <p:sldId id="341" r:id="rId22"/>
    <p:sldId id="324" r:id="rId23"/>
    <p:sldId id="323" r:id="rId24"/>
    <p:sldId id="325" r:id="rId25"/>
    <p:sldId id="278" r:id="rId26"/>
    <p:sldId id="279" r:id="rId27"/>
    <p:sldId id="366" r:id="rId28"/>
    <p:sldId id="367" r:id="rId29"/>
    <p:sldId id="282" r:id="rId30"/>
    <p:sldId id="283" r:id="rId31"/>
    <p:sldId id="266" r:id="rId32"/>
  </p:sldIdLst>
  <p:sldSz cx="12192000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87D3"/>
    <a:srgbClr val="4F78C9"/>
    <a:srgbClr val="BFD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15415" y="2309495"/>
            <a:ext cx="5832475" cy="14338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lang="zh-CN" altLang="en-US" sz="8800">
                <a:solidFill>
                  <a:schemeClr val="accent3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选课系统</a:t>
            </a:r>
            <a:endParaRPr lang="zh-CN" altLang="en-US" sz="8800">
              <a:solidFill>
                <a:schemeClr val="accent3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>
            <a:off x="6782435" y="1449070"/>
            <a:ext cx="6858635" cy="3960495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16200000">
            <a:off x="6824345" y="237490"/>
            <a:ext cx="5605145" cy="5131435"/>
          </a:xfrm>
          <a:prstGeom prst="triangle">
            <a:avLst>
              <a:gd name="adj" fmla="val 7538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7171055" y="4300220"/>
            <a:ext cx="4912360" cy="2557780"/>
          </a:xfrm>
          <a:prstGeom prst="triangle">
            <a:avLst>
              <a:gd name="adj" fmla="val 399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10800000">
            <a:off x="1697990" y="0"/>
            <a:ext cx="10298430" cy="1505585"/>
          </a:xfrm>
          <a:prstGeom prst="triangle">
            <a:avLst>
              <a:gd name="adj" fmla="val 5642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970280" y="5348605"/>
            <a:ext cx="6170295" cy="4711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1181735" y="5399405"/>
            <a:ext cx="2762885" cy="3600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4168140" y="5400040"/>
            <a:ext cx="2762885" cy="3600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127760" y="5400040"/>
            <a:ext cx="285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汇报人：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12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组</a:t>
            </a:r>
            <a:endParaRPr lang="zh-CN" altLang="en-US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523740" y="539115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日期：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2026.01.19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3626485" y="4418965"/>
            <a:ext cx="656590" cy="6565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pic>
        <p:nvPicPr>
          <p:cNvPr id="18" name="图片 17" descr="3632467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4755" y="4547235"/>
            <a:ext cx="399415" cy="3994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28740" y="3709035"/>
            <a:ext cx="197167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150360" y="771525"/>
            <a:ext cx="1702435" cy="9220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目录</a:t>
            </a:r>
            <a:endParaRPr lang="zh-CN" altLang="en-US" sz="5400" b="1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83580" y="1048385"/>
            <a:ext cx="278384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accent1">
                    <a:lumMod val="7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CONTENTS</a:t>
            </a:r>
            <a:endParaRPr lang="en-US" altLang="zh-CN" sz="3600" b="1">
              <a:solidFill>
                <a:schemeClr val="accent1">
                  <a:lumMod val="7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4253865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2"/>
            </p:custDataLst>
          </p:nvPr>
        </p:nvGrpSpPr>
        <p:grpSpPr>
          <a:xfrm>
            <a:off x="1430655" y="2212340"/>
            <a:ext cx="1295400" cy="1295400"/>
            <a:chOff x="3127" y="4050"/>
            <a:chExt cx="2040" cy="2040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13" name="椭圆 12"/>
            <p:cNvSpPr/>
            <p:nvPr>
              <p:custDataLst>
                <p:tags r:id="rId4"/>
              </p:custDataLst>
            </p:nvPr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5"/>
            </p:custDataLst>
          </p:nvPr>
        </p:nvGrpSpPr>
        <p:grpSpPr>
          <a:xfrm>
            <a:off x="6734810" y="2212340"/>
            <a:ext cx="1295400" cy="1295400"/>
            <a:chOff x="3127" y="4050"/>
            <a:chExt cx="2040" cy="2040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7"/>
              </p:custDataLst>
            </p:nvPr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4033520" y="2212340"/>
            <a:ext cx="1295400" cy="1295400"/>
            <a:chOff x="3127" y="4050"/>
            <a:chExt cx="2040" cy="2040"/>
          </a:xfrm>
        </p:grpSpPr>
        <p:sp>
          <p:nvSpPr>
            <p:cNvPr id="19" name="椭圆 18"/>
            <p:cNvSpPr/>
            <p:nvPr>
              <p:custDataLst>
                <p:tags r:id="rId9"/>
              </p:custDataLst>
            </p:nvPr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0"/>
              </p:custDataLst>
            </p:nvPr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9353550" y="2211705"/>
            <a:ext cx="1295400" cy="1295400"/>
            <a:chOff x="3127" y="4050"/>
            <a:chExt cx="2040" cy="2040"/>
          </a:xfrm>
        </p:grpSpPr>
        <p:sp>
          <p:nvSpPr>
            <p:cNvPr id="22" name="椭圆 21"/>
            <p:cNvSpPr/>
            <p:nvPr>
              <p:custDataLst>
                <p:tags r:id="rId12"/>
              </p:custDataLst>
            </p:nvPr>
          </p:nvSpPr>
          <p:spPr>
            <a:xfrm>
              <a:off x="3127" y="4050"/>
              <a:ext cx="2040" cy="20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3"/>
              </p:custDataLst>
            </p:nvPr>
          </p:nvSpPr>
          <p:spPr>
            <a:xfrm>
              <a:off x="3269" y="4192"/>
              <a:ext cx="1756" cy="17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 CN Regular" panose="020B0500000000000000" charset="-122"/>
                <a:ea typeface="思源黑体 CN Regular" panose="020B0500000000000000" charset="-122"/>
              </a:endParaRPr>
            </a:p>
          </p:txBody>
        </p:sp>
      </p:grp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1729105" y="2506980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01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4331970" y="2506980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02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7033260" y="2506345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03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9652000" y="2506345"/>
            <a:ext cx="6985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04</a:t>
            </a:r>
            <a:endParaRPr lang="en-US" altLang="zh-CN" sz="4000" b="1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8"/>
            </p:custDataLst>
          </p:nvPr>
        </p:nvSpPr>
        <p:spPr>
          <a:xfrm>
            <a:off x="1343025" y="4208780"/>
            <a:ext cx="1470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2400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9"/>
            </p:custDataLst>
          </p:nvPr>
        </p:nvSpPr>
        <p:spPr>
          <a:xfrm>
            <a:off x="3949700" y="4208780"/>
            <a:ext cx="1510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</a:rPr>
              <a:t>程序实现</a:t>
            </a:r>
            <a:endParaRPr lang="zh-CN" altLang="en-US" sz="2400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0"/>
            </p:custDataLst>
          </p:nvPr>
        </p:nvSpPr>
        <p:spPr>
          <a:xfrm>
            <a:off x="6689090" y="4208780"/>
            <a:ext cx="1464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</a:rPr>
              <a:t>程序测试</a:t>
            </a:r>
            <a:endParaRPr lang="zh-CN" altLang="en-US" sz="2400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1"/>
            </p:custDataLst>
          </p:nvPr>
        </p:nvSpPr>
        <p:spPr>
          <a:xfrm>
            <a:off x="9314180" y="4208780"/>
            <a:ext cx="1482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</a:rPr>
              <a:t>程序总结</a:t>
            </a:r>
            <a:endParaRPr lang="zh-CN" altLang="en-US" sz="2400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22"/>
            </p:custDataLst>
          </p:nvPr>
        </p:nvCxnSpPr>
        <p:spPr>
          <a:xfrm>
            <a:off x="1651000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23"/>
            </p:custDataLst>
          </p:nvPr>
        </p:nvCxnSpPr>
        <p:spPr>
          <a:xfrm>
            <a:off x="6955155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>
            <p:custDataLst>
              <p:tags r:id="rId24"/>
            </p:custDataLst>
          </p:nvPr>
        </p:nvCxnSpPr>
        <p:spPr>
          <a:xfrm>
            <a:off x="9573895" y="4027170"/>
            <a:ext cx="85471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527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527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43475" y="764540"/>
            <a:ext cx="1871980" cy="11525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280025" y="756285"/>
            <a:ext cx="1809750" cy="1253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>
                <a:latin typeface="华文中宋" panose="02010600040101010101" charset="-122"/>
                <a:ea typeface="华文中宋" panose="02010600040101010101" charset="-122"/>
              </a:rPr>
              <a:t>01</a:t>
            </a:r>
            <a:endParaRPr lang="en-US" altLang="zh-CN" sz="72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47440" y="2204720"/>
            <a:ext cx="4680585" cy="64833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562475" y="2247900"/>
            <a:ext cx="5637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选课系统</a:t>
            </a:r>
            <a:endParaRPr lang="zh-CN" altLang="en-US" sz="32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50080" y="3148330"/>
            <a:ext cx="4237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5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38555" y="4258945"/>
            <a:ext cx="10027920" cy="1290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。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4285" y="4872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40460" y="1954530"/>
            <a:ext cx="101403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表现层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ui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应用逻辑层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registrar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数据管理层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broker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领域层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domain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99515" y="1432560"/>
            <a:ext cx="1815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分层模型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4285" y="4872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380" y="1412875"/>
            <a:ext cx="17672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表现层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ui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180" y="2037080"/>
            <a:ext cx="7414895" cy="295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主要功能：使用命令行实现和用户交互，接受用户的操作指令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整体架构：用户界面层（</a:t>
            </a:r>
            <a:r>
              <a:rPr lang="en-US" altLang="zh-CN"/>
              <a:t>ui) -- </a:t>
            </a:r>
            <a:r>
              <a:rPr lang="zh-CN" altLang="en-US"/>
              <a:t>业务逻辑层（</a:t>
            </a:r>
            <a:r>
              <a:rPr lang="en-US" altLang="zh-CN"/>
              <a:t>registrar)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具体角色功能：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学生系统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教师系统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教学秘书系统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4285" y="4872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380" y="1412875"/>
            <a:ext cx="3353435" cy="468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应用逻辑层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registrar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180" y="2045335"/>
            <a:ext cx="5750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接受表现层的请求，调用领域层完成业务逻辑计算，</a:t>
            </a:r>
            <a:endParaRPr lang="zh-CN" altLang="en-US"/>
          </a:p>
          <a:p>
            <a:r>
              <a:rPr lang="zh-CN" altLang="en-US"/>
              <a:t>再通过数据管理层读写数据，最后将结果返回给表现层</a:t>
            </a:r>
            <a:endParaRPr lang="zh-CN" altLang="en-US"/>
          </a:p>
          <a:p>
            <a:r>
              <a:rPr lang="zh-CN" altLang="en-US"/>
              <a:t>封装核心业务逻辑，处理选课，退课等流程的规则校验与执行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3570" y="3644900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整体架构：业务逻辑层（</a:t>
            </a:r>
            <a:r>
              <a:rPr lang="en-US" altLang="zh-CN">
                <a:sym typeface="+mn-ea"/>
              </a:rPr>
              <a:t>registrar) -- </a:t>
            </a:r>
            <a:r>
              <a:rPr lang="zh-CN" altLang="en-US">
                <a:sym typeface="+mn-ea"/>
              </a:rPr>
              <a:t>数据访问层（</a:t>
            </a:r>
            <a:r>
              <a:rPr lang="en-US" altLang="zh-CN">
                <a:sym typeface="+mn-ea"/>
              </a:rPr>
              <a:t>broker)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业务处理流程：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身份验证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权限检查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业务操作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</a:t>
            </a:r>
            <a:r>
              <a:rPr lang="zh-CN" altLang="en-US">
                <a:sym typeface="+mn-ea"/>
              </a:rPr>
              <a:t>结果反馈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4285" y="4872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6055" y="1412875"/>
            <a:ext cx="2760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数据管理层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broker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9885" y="2204720"/>
            <a:ext cx="564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提供数据代管理，数据库连接，sql执行等基础服务。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2997200"/>
            <a:ext cx="5438775" cy="12001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8650" y="4438650"/>
            <a:ext cx="5393690" cy="692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使用</a:t>
            </a:r>
            <a:r>
              <a:rPr lang="en-US" altLang="zh-CN"/>
              <a:t>PostgreSQL</a:t>
            </a:r>
            <a:r>
              <a:rPr lang="zh-CN" altLang="en-US"/>
              <a:t>：基于</a:t>
            </a:r>
            <a:r>
              <a:rPr lang="en-US" altLang="zh-CN"/>
              <a:t>libpqxx</a:t>
            </a:r>
            <a:r>
              <a:rPr lang="zh-CN" altLang="en-US"/>
              <a:t>库实现高效交互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5800" y="5124450"/>
            <a:ext cx="6768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应用逻辑层</a:t>
            </a:r>
            <a:r>
              <a:rPr lang="en-US" altLang="zh-CN"/>
              <a:t>-&gt;</a:t>
            </a:r>
            <a:r>
              <a:rPr lang="zh-CN" altLang="en-US"/>
              <a:t>数据管理层</a:t>
            </a:r>
            <a:r>
              <a:rPr lang="en-US" altLang="zh-CN"/>
              <a:t>-&gt;PostgreSQL</a:t>
            </a:r>
            <a:r>
              <a:rPr lang="zh-CN" altLang="en-US"/>
              <a:t>执行</a:t>
            </a:r>
            <a:r>
              <a:rPr lang="en-US" altLang="zh-CN"/>
              <a:t>-&gt;</a:t>
            </a:r>
            <a:r>
              <a:rPr lang="zh-CN" altLang="en-US"/>
              <a:t>结果返回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4285" y="4872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5110" y="1494155"/>
            <a:ext cx="2386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领域层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domain</a:t>
            </a:r>
            <a:endParaRPr lang="en-US" altLang="zh-CN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8150" y="2162175"/>
            <a:ext cx="7659370" cy="424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定义实体类（Student,Course,Teacher等），封装数据属性与核心行为。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9295" y="2943225"/>
            <a:ext cx="98044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基础实体：</a:t>
            </a:r>
            <a:r>
              <a:rPr lang="en-US" altLang="zh-CN"/>
              <a:t>Person,</a:t>
            </a:r>
            <a:r>
              <a:rPr lang="zh-CN" altLang="en-US"/>
              <a:t>为其他角色提供通用属性和接口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用户角色：学生</a:t>
            </a:r>
            <a:r>
              <a:rPr lang="en-US" altLang="zh-CN"/>
              <a:t>Studnet,</a:t>
            </a:r>
            <a:r>
              <a:rPr lang="zh-CN" altLang="en-US"/>
              <a:t>教师</a:t>
            </a:r>
            <a:r>
              <a:rPr lang="en-US" altLang="zh-CN"/>
              <a:t>Teacher,</a:t>
            </a:r>
            <a:r>
              <a:rPr lang="zh-CN" altLang="en-US"/>
              <a:t>教学秘书</a:t>
            </a:r>
            <a:r>
              <a:rPr lang="en-US" altLang="zh-CN"/>
              <a:t>TeacherSecretary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课程核心：</a:t>
            </a:r>
            <a:r>
              <a:rPr lang="en-US" altLang="zh-CN"/>
              <a:t>Course,</a:t>
            </a:r>
            <a:r>
              <a:rPr lang="zh-CN" altLang="en-US"/>
              <a:t>封装课程基本信息和选课管理逻辑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选课关联：选课记录</a:t>
            </a:r>
            <a:r>
              <a:rPr lang="en-US" altLang="zh-CN"/>
              <a:t>Enrollment</a:t>
            </a:r>
            <a:r>
              <a:rPr lang="zh-CN" altLang="en-US"/>
              <a:t>，并绑定成绩</a:t>
            </a:r>
            <a:r>
              <a:rPr lang="en-US" altLang="zh-CN"/>
              <a:t>Grade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课表管理：课表</a:t>
            </a:r>
            <a:r>
              <a:rPr lang="en-US" altLang="zh-CN"/>
              <a:t>Schedule</a:t>
            </a:r>
            <a:r>
              <a:rPr lang="zh-CN" altLang="en-US"/>
              <a:t>代表一张课表，课表条目</a:t>
            </a:r>
            <a:r>
              <a:rPr lang="en-US" altLang="zh-CN"/>
              <a:t>ScheduleEntry</a:t>
            </a:r>
            <a:r>
              <a:rPr lang="zh-CN" altLang="en-US"/>
              <a:t>代表具体的上课条目，支持增删查改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xuank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840" y="116840"/>
            <a:ext cx="5725795" cy="2804160"/>
          </a:xfrm>
          <a:prstGeom prst="rect">
            <a:avLst/>
          </a:prstGeom>
        </p:spPr>
      </p:pic>
      <p:pic>
        <p:nvPicPr>
          <p:cNvPr id="3" name="图片 2" descr="paik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3141345"/>
            <a:ext cx="5248910" cy="3581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9425" y="1124585"/>
            <a:ext cx="2061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选课部分类图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6255" y="4509770"/>
            <a:ext cx="1623060" cy="37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排课部分类图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程序设计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14285" y="4872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1085" y="2186940"/>
            <a:ext cx="863473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1.定义的基本表</a:t>
            </a:r>
            <a:endParaRPr lang="zh-CN" altLang="en-US"/>
          </a:p>
          <a:p>
            <a:r>
              <a:rPr lang="zh-CN" altLang="en-US"/>
              <a:t>                    关联列表</a:t>
            </a:r>
            <a:endParaRPr lang="zh-CN" altLang="en-US"/>
          </a:p>
          <a:p>
            <a:r>
              <a:rPr lang="zh-CN" altLang="en-US"/>
              <a:t>    架构模式 |      名称      </a:t>
            </a:r>
            <a:r>
              <a:rPr lang="en-US" altLang="zh-CN"/>
              <a:t>        </a:t>
            </a:r>
            <a:r>
              <a:rPr lang="zh-CN" altLang="en-US"/>
              <a:t>|  类型  </a:t>
            </a:r>
            <a:r>
              <a:rPr lang="en-US" altLang="zh-CN"/>
              <a:t> </a:t>
            </a:r>
            <a:r>
              <a:rPr lang="zh-CN" altLang="en-US"/>
              <a:t>|  拥有者</a:t>
            </a:r>
            <a:endParaRPr lang="zh-CN" altLang="en-US"/>
          </a:p>
          <a:p>
            <a:r>
              <a:rPr lang="zh-CN" altLang="en-US"/>
              <a:t>    ----------</a:t>
            </a:r>
            <a:r>
              <a:rPr lang="en-US" altLang="zh-CN"/>
              <a:t>--</a:t>
            </a:r>
            <a:r>
              <a:rPr lang="zh-CN" altLang="en-US"/>
              <a:t>+---------------</a:t>
            </a:r>
            <a:r>
              <a:rPr lang="en-US" altLang="zh-CN"/>
              <a:t>-------</a:t>
            </a:r>
            <a:r>
              <a:rPr lang="zh-CN" altLang="en-US"/>
              <a:t>+--------</a:t>
            </a:r>
            <a:r>
              <a:rPr lang="en-US" altLang="zh-CN"/>
              <a:t>-</a:t>
            </a:r>
            <a:r>
              <a:rPr lang="zh-CN" altLang="en-US"/>
              <a:t>+----------</a:t>
            </a:r>
            <a:endParaRPr lang="zh-CN" altLang="en-US"/>
          </a:p>
          <a:p>
            <a:r>
              <a:rPr lang="zh-CN" altLang="en-US"/>
              <a:t>    public   </a:t>
            </a:r>
            <a:r>
              <a:rPr lang="en-US" altLang="zh-CN"/>
              <a:t>   </a:t>
            </a:r>
            <a:r>
              <a:rPr lang="zh-CN" altLang="en-US"/>
              <a:t>| course       </a:t>
            </a:r>
            <a:r>
              <a:rPr lang="en-US" altLang="zh-CN"/>
              <a:t>        </a:t>
            </a:r>
            <a:r>
              <a:rPr lang="zh-CN" altLang="en-US"/>
              <a:t>|</a:t>
            </a:r>
            <a:r>
              <a:rPr lang="en-US" altLang="zh-CN"/>
              <a:t> </a:t>
            </a:r>
            <a:r>
              <a:rPr lang="zh-CN" altLang="en-US"/>
              <a:t>数据表 | postgres</a:t>
            </a:r>
            <a:endParaRPr lang="zh-CN" altLang="en-US"/>
          </a:p>
          <a:p>
            <a:r>
              <a:rPr lang="zh-CN" altLang="en-US"/>
              <a:t>    public   </a:t>
            </a:r>
            <a:r>
              <a:rPr lang="en-US" altLang="zh-CN"/>
              <a:t>   </a:t>
            </a:r>
            <a:r>
              <a:rPr lang="zh-CN" altLang="en-US"/>
              <a:t>| sc             </a:t>
            </a:r>
            <a:r>
              <a:rPr lang="en-US" altLang="zh-CN"/>
              <a:t>         </a:t>
            </a:r>
            <a:r>
              <a:rPr lang="zh-CN" altLang="en-US"/>
              <a:t>| 数据表 | postgres</a:t>
            </a:r>
            <a:endParaRPr lang="zh-CN" altLang="en-US"/>
          </a:p>
          <a:p>
            <a:r>
              <a:rPr lang="zh-CN" altLang="en-US"/>
              <a:t>    public   </a:t>
            </a:r>
            <a:r>
              <a:rPr lang="en-US" altLang="zh-CN"/>
              <a:t>   </a:t>
            </a:r>
            <a:r>
              <a:rPr lang="zh-CN" altLang="en-US"/>
              <a:t>|</a:t>
            </a:r>
            <a:r>
              <a:rPr lang="en-US" altLang="zh-CN"/>
              <a:t> </a:t>
            </a:r>
            <a:r>
              <a:rPr lang="zh-CN" altLang="en-US"/>
              <a:t>schedule       </a:t>
            </a:r>
            <a:r>
              <a:rPr lang="en-US" altLang="zh-CN"/>
              <a:t>    </a:t>
            </a:r>
            <a:r>
              <a:rPr lang="zh-CN" altLang="en-US"/>
              <a:t>| 数据表 | postgres</a:t>
            </a:r>
            <a:endParaRPr lang="zh-CN" altLang="en-US"/>
          </a:p>
          <a:p>
            <a:r>
              <a:rPr lang="zh-CN" altLang="en-US"/>
              <a:t>    public   </a:t>
            </a:r>
            <a:r>
              <a:rPr lang="en-US" altLang="zh-CN"/>
              <a:t>   </a:t>
            </a:r>
            <a:r>
              <a:rPr lang="zh-CN" altLang="en-US"/>
              <a:t>| schedule_entry | 数据表 | postgres</a:t>
            </a:r>
            <a:endParaRPr lang="zh-CN" altLang="en-US"/>
          </a:p>
          <a:p>
            <a:r>
              <a:rPr lang="zh-CN" altLang="en-US"/>
              <a:t>    public   </a:t>
            </a:r>
            <a:r>
              <a:rPr lang="en-US" altLang="zh-CN"/>
              <a:t>   </a:t>
            </a:r>
            <a:r>
              <a:rPr lang="zh-CN" altLang="en-US"/>
              <a:t>| student        </a:t>
            </a:r>
            <a:r>
              <a:rPr lang="en-US" altLang="zh-CN"/>
              <a:t>      </a:t>
            </a:r>
            <a:r>
              <a:rPr lang="zh-CN" altLang="en-US"/>
              <a:t>| 数据表 | postgres</a:t>
            </a:r>
            <a:endParaRPr lang="zh-CN" altLang="en-US"/>
          </a:p>
          <a:p>
            <a:r>
              <a:rPr lang="zh-CN" altLang="en-US"/>
              <a:t>    public   </a:t>
            </a:r>
            <a:r>
              <a:rPr lang="en-US" altLang="zh-CN"/>
              <a:t>   </a:t>
            </a:r>
            <a:r>
              <a:rPr lang="zh-CN" altLang="en-US"/>
              <a:t>| teacher        </a:t>
            </a:r>
            <a:r>
              <a:rPr lang="en-US" altLang="zh-CN"/>
              <a:t>      </a:t>
            </a:r>
            <a:r>
              <a:rPr lang="zh-CN" altLang="en-US"/>
              <a:t>| 数据表 | postgres</a:t>
            </a:r>
            <a:endParaRPr lang="zh-CN" altLang="en-US"/>
          </a:p>
          <a:p>
            <a:r>
              <a:rPr lang="zh-CN" altLang="en-US"/>
              <a:t>    public   </a:t>
            </a:r>
            <a:r>
              <a:rPr lang="en-US" altLang="zh-CN"/>
              <a:t>   </a:t>
            </a:r>
            <a:r>
              <a:rPr lang="zh-CN" altLang="en-US"/>
              <a:t>| tsecretary     </a:t>
            </a:r>
            <a:r>
              <a:rPr lang="en-US" altLang="zh-CN"/>
              <a:t>     </a:t>
            </a:r>
            <a:r>
              <a:rPr lang="zh-CN" altLang="en-US"/>
              <a:t>| 数据表 | postgres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7035" y="1456690"/>
            <a:ext cx="39420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2"/>
            <a:r>
              <a:rPr lang="zh-CN" altLang="en-US" sz="2800"/>
              <a:t>数据库设计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数据库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0505" y="1476375"/>
            <a:ext cx="91059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数据表 "public.student"</a:t>
            </a:r>
            <a:endParaRPr lang="zh-CN" altLang="en-US"/>
          </a:p>
          <a:p>
            <a:r>
              <a:rPr lang="zh-CN" altLang="en-US"/>
              <a:t>       栏位   </a:t>
            </a:r>
            <a:r>
              <a:rPr lang="en-US" altLang="zh-CN"/>
              <a:t>    </a:t>
            </a:r>
            <a:r>
              <a:rPr lang="zh-CN" altLang="en-US"/>
              <a:t>|         类型          </a:t>
            </a:r>
            <a:r>
              <a:rPr lang="en-US" altLang="zh-CN"/>
              <a:t>         </a:t>
            </a:r>
            <a:r>
              <a:rPr lang="zh-CN" altLang="en-US"/>
              <a:t>| 校对规则 |  可空的  | 预设</a:t>
            </a:r>
            <a:endParaRPr lang="zh-CN" altLang="en-US"/>
          </a:p>
          <a:p>
            <a:r>
              <a:rPr lang="zh-CN" altLang="en-US"/>
              <a:t>    ----------</a:t>
            </a:r>
            <a:r>
              <a:rPr lang="en-US" altLang="zh-CN"/>
              <a:t>----</a:t>
            </a:r>
            <a:r>
              <a:rPr lang="zh-CN" altLang="en-US"/>
              <a:t>+-----------------------</a:t>
            </a:r>
            <a:r>
              <a:rPr lang="en-US" altLang="zh-CN"/>
              <a:t>------</a:t>
            </a:r>
            <a:r>
              <a:rPr lang="zh-CN" altLang="en-US"/>
              <a:t>+----------+----------+------</a:t>
            </a:r>
            <a:endParaRPr lang="zh-CN" altLang="en-US"/>
          </a:p>
          <a:p>
            <a:r>
              <a:rPr lang="zh-CN" altLang="en-US"/>
              <a:t>     sno      </a:t>
            </a:r>
            <a:r>
              <a:rPr lang="en-US" altLang="zh-CN"/>
              <a:t>     </a:t>
            </a:r>
            <a:r>
              <a:rPr lang="zh-CN" altLang="en-US"/>
              <a:t>| character varying(20) |          </a:t>
            </a:r>
            <a:r>
              <a:rPr lang="en-US" altLang="zh-CN"/>
              <a:t>   </a:t>
            </a:r>
            <a:r>
              <a:rPr lang="zh-CN" altLang="en-US"/>
              <a:t>| not null|</a:t>
            </a:r>
            <a:endParaRPr lang="zh-CN" altLang="en-US"/>
          </a:p>
          <a:p>
            <a:r>
              <a:rPr lang="zh-CN" altLang="en-US"/>
              <a:t>     sname    </a:t>
            </a:r>
            <a:r>
              <a:rPr lang="en-US" altLang="zh-CN"/>
              <a:t>  </a:t>
            </a:r>
            <a:r>
              <a:rPr lang="zh-CN" altLang="en-US"/>
              <a:t>| character varying(20) |          </a:t>
            </a:r>
            <a:r>
              <a:rPr lang="en-US" altLang="zh-CN"/>
              <a:t>   </a:t>
            </a:r>
            <a:r>
              <a:rPr lang="zh-CN" altLang="en-US"/>
              <a:t>|          </a:t>
            </a:r>
            <a:r>
              <a:rPr lang="en-US" altLang="zh-CN"/>
              <a:t>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 sacademy| character varying(20) |          </a:t>
            </a:r>
            <a:r>
              <a:rPr lang="en-US" altLang="zh-CN"/>
              <a:t>   </a:t>
            </a:r>
            <a:r>
              <a:rPr lang="zh-CN" altLang="en-US"/>
              <a:t>|          </a:t>
            </a:r>
            <a:r>
              <a:rPr lang="en-US" altLang="zh-CN"/>
              <a:t>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 smajor </a:t>
            </a:r>
            <a:r>
              <a:rPr lang="en-US" altLang="zh-CN"/>
              <a:t>   </a:t>
            </a:r>
            <a:r>
              <a:rPr lang="zh-CN" altLang="en-US"/>
              <a:t>  | character varying(20) |          </a:t>
            </a:r>
            <a:r>
              <a:rPr lang="en-US" altLang="zh-CN"/>
              <a:t>   </a:t>
            </a:r>
            <a:r>
              <a:rPr lang="zh-CN" altLang="en-US"/>
              <a:t>|          </a:t>
            </a:r>
            <a:r>
              <a:rPr lang="en-US" altLang="zh-CN"/>
              <a:t>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索引：</a:t>
            </a:r>
            <a:endParaRPr lang="zh-CN" altLang="en-US"/>
          </a:p>
          <a:p>
            <a:r>
              <a:rPr lang="zh-CN" altLang="en-US"/>
              <a:t>        "student_pkey" PRIMARY KEY, btree (sno)</a:t>
            </a:r>
            <a:endParaRPr lang="zh-CN" altLang="en-US"/>
          </a:p>
          <a:p>
            <a:r>
              <a:rPr lang="zh-CN" altLang="en-US"/>
              <a:t>    由引用：</a:t>
            </a:r>
            <a:endParaRPr lang="zh-CN" altLang="en-US"/>
          </a:p>
          <a:p>
            <a:r>
              <a:rPr lang="zh-CN" altLang="en-US"/>
              <a:t>        TABLE "sc" CONSTRAINT "sc_sno_fkey" FOREIGN KEY (sno) REFERENCES student(sno)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数据库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1450" y="1466850"/>
            <a:ext cx="11868785" cy="5229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    数据表 "public.course"</a:t>
            </a:r>
            <a:endParaRPr lang="zh-CN" altLang="en-US"/>
          </a:p>
          <a:p>
            <a:r>
              <a:rPr lang="zh-CN" altLang="en-US"/>
              <a:t>    栏位   </a:t>
            </a:r>
            <a:r>
              <a:rPr lang="en-US" altLang="zh-CN"/>
              <a:t>        </a:t>
            </a:r>
            <a:r>
              <a:rPr lang="zh-CN" altLang="en-US"/>
              <a:t>|         类型          </a:t>
            </a:r>
            <a:r>
              <a:rPr lang="en-US" altLang="zh-CN"/>
              <a:t>          </a:t>
            </a:r>
            <a:r>
              <a:rPr lang="zh-CN" altLang="en-US"/>
              <a:t>| 校对规则 |  可空的  | 预设</a:t>
            </a:r>
            <a:endParaRPr lang="zh-CN" altLang="en-US"/>
          </a:p>
          <a:p>
            <a:r>
              <a:rPr lang="zh-CN" altLang="en-US"/>
              <a:t>    ----------</a:t>
            </a:r>
            <a:r>
              <a:rPr lang="en-US" altLang="zh-CN"/>
              <a:t>-----</a:t>
            </a:r>
            <a:r>
              <a:rPr lang="zh-CN" altLang="en-US"/>
              <a:t>+-----------------------</a:t>
            </a:r>
            <a:r>
              <a:rPr lang="en-US" altLang="zh-CN"/>
              <a:t>------</a:t>
            </a:r>
            <a:r>
              <a:rPr lang="zh-CN" altLang="en-US"/>
              <a:t>+---------</a:t>
            </a:r>
            <a:r>
              <a:rPr lang="en-US" altLang="zh-CN"/>
              <a:t>---</a:t>
            </a:r>
            <a:r>
              <a:rPr lang="zh-CN" altLang="en-US"/>
              <a:t>-+----------+------</a:t>
            </a:r>
            <a:endParaRPr lang="zh-CN" altLang="en-US"/>
          </a:p>
          <a:p>
            <a:r>
              <a:rPr lang="zh-CN" altLang="en-US"/>
              <a:t>    cno      </a:t>
            </a:r>
            <a:r>
              <a:rPr lang="en-US" altLang="zh-CN"/>
              <a:t>      </a:t>
            </a:r>
            <a:r>
              <a:rPr lang="zh-CN" altLang="en-US"/>
              <a:t>| character varying(20)</a:t>
            </a:r>
            <a:r>
              <a:rPr lang="en-US" altLang="zh-CN"/>
              <a:t> </a:t>
            </a:r>
            <a:r>
              <a:rPr lang="zh-CN" altLang="en-US"/>
              <a:t> |    </a:t>
            </a:r>
            <a:r>
              <a:rPr lang="en-US" altLang="zh-CN"/>
              <a:t>       </a:t>
            </a:r>
            <a:r>
              <a:rPr lang="zh-CN" altLang="en-US"/>
              <a:t>      | not null |</a:t>
            </a:r>
            <a:endParaRPr lang="zh-CN" altLang="en-US"/>
          </a:p>
          <a:p>
            <a:r>
              <a:rPr lang="zh-CN" altLang="en-US"/>
              <a:t>    cname  </a:t>
            </a:r>
            <a:r>
              <a:rPr lang="en-US" altLang="zh-CN"/>
              <a:t>  </a:t>
            </a:r>
            <a:r>
              <a:rPr lang="zh-CN" altLang="en-US"/>
              <a:t>  </a:t>
            </a:r>
            <a:r>
              <a:rPr lang="en-US" altLang="zh-CN"/>
              <a:t> </a:t>
            </a:r>
            <a:r>
              <a:rPr lang="zh-CN" altLang="en-US"/>
              <a:t>| character varying(20) </a:t>
            </a:r>
            <a:r>
              <a:rPr lang="en-US" altLang="zh-CN"/>
              <a:t> </a:t>
            </a:r>
            <a:r>
              <a:rPr lang="zh-CN" altLang="en-US"/>
              <a:t>|          </a:t>
            </a:r>
            <a:r>
              <a:rPr lang="en-US" altLang="zh-CN"/>
              <a:t>       </a:t>
            </a:r>
            <a:r>
              <a:rPr lang="zh-CN" altLang="en-US"/>
              <a:t>|          </a:t>
            </a:r>
            <a:r>
              <a:rPr lang="en-US" altLang="zh-CN"/>
              <a:t> 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ccredit </a:t>
            </a:r>
            <a:r>
              <a:rPr lang="en-US" altLang="zh-CN"/>
              <a:t>    </a:t>
            </a:r>
            <a:r>
              <a:rPr lang="zh-CN" altLang="en-US"/>
              <a:t> </a:t>
            </a:r>
            <a:r>
              <a:rPr lang="en-US" altLang="zh-CN"/>
              <a:t> </a:t>
            </a:r>
            <a:r>
              <a:rPr lang="zh-CN" altLang="en-US"/>
              <a:t>| character varying(20) </a:t>
            </a:r>
            <a:r>
              <a:rPr lang="en-US" altLang="zh-CN"/>
              <a:t> </a:t>
            </a:r>
            <a:r>
              <a:rPr lang="zh-CN" altLang="en-US"/>
              <a:t>|          </a:t>
            </a:r>
            <a:r>
              <a:rPr lang="en-US" altLang="zh-CN"/>
              <a:t>       </a:t>
            </a:r>
            <a:r>
              <a:rPr lang="zh-CN" altLang="en-US"/>
              <a:t>|        </a:t>
            </a:r>
            <a:r>
              <a:rPr lang="en-US" altLang="zh-CN"/>
              <a:t>    </a:t>
            </a:r>
            <a:r>
              <a:rPr lang="zh-CN" altLang="en-US"/>
              <a:t>  |</a:t>
            </a:r>
            <a:endParaRPr lang="zh-CN" altLang="en-US"/>
          </a:p>
          <a:p>
            <a:r>
              <a:rPr lang="zh-CN" altLang="en-US"/>
              <a:t>    cacademy | character varying(20) </a:t>
            </a:r>
            <a:r>
              <a:rPr lang="en-US" altLang="zh-CN"/>
              <a:t> </a:t>
            </a:r>
            <a:r>
              <a:rPr lang="zh-CN" altLang="en-US"/>
              <a:t>|          </a:t>
            </a:r>
            <a:r>
              <a:rPr lang="en-US" altLang="zh-CN"/>
              <a:t>       </a:t>
            </a:r>
            <a:r>
              <a:rPr lang="zh-CN" altLang="en-US"/>
              <a:t>|     </a:t>
            </a:r>
            <a:r>
              <a:rPr lang="en-US" altLang="zh-CN"/>
              <a:t>   </a:t>
            </a:r>
            <a:r>
              <a:rPr lang="zh-CN" altLang="en-US"/>
              <a:t>     </a:t>
            </a:r>
            <a:r>
              <a:rPr lang="en-US" altLang="zh-CN"/>
              <a:t>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tno      </a:t>
            </a:r>
            <a:r>
              <a:rPr lang="en-US" altLang="zh-CN"/>
              <a:t>      </a:t>
            </a:r>
            <a:r>
              <a:rPr lang="zh-CN" altLang="en-US"/>
              <a:t>| character varying(20) </a:t>
            </a:r>
            <a:r>
              <a:rPr lang="en-US" altLang="zh-CN"/>
              <a:t> </a:t>
            </a:r>
            <a:r>
              <a:rPr lang="zh-CN" altLang="en-US"/>
              <a:t>|</a:t>
            </a:r>
            <a:r>
              <a:rPr lang="en-US" altLang="zh-CN"/>
              <a:t>       </a:t>
            </a:r>
            <a:r>
              <a:rPr lang="zh-CN" altLang="en-US"/>
              <a:t>          | </a:t>
            </a:r>
            <a:r>
              <a:rPr lang="en-US" altLang="zh-CN"/>
              <a:t>    </a:t>
            </a:r>
            <a:r>
              <a:rPr lang="zh-CN" altLang="en-US"/>
              <a:t>        </a:t>
            </a:r>
            <a:r>
              <a:rPr lang="en-US" altLang="zh-CN"/>
              <a:t>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索引：</a:t>
            </a:r>
            <a:endParaRPr lang="zh-CN" altLang="en-US"/>
          </a:p>
          <a:p>
            <a:r>
              <a:rPr lang="zh-CN" altLang="en-US"/>
              <a:t>    "course_pkey" PRIMARY KEY, btree (cno)</a:t>
            </a:r>
            <a:endParaRPr lang="zh-CN" altLang="en-US"/>
          </a:p>
          <a:p>
            <a:r>
              <a:rPr lang="zh-CN" altLang="en-US"/>
              <a:t>    外部键(FK)限制：</a:t>
            </a:r>
            <a:endParaRPr lang="zh-CN" altLang="en-US"/>
          </a:p>
          <a:p>
            <a:r>
              <a:rPr lang="zh-CN" altLang="en-US"/>
              <a:t>    "course_tno_fkey" FOREIGN KEY (tno) REFERENCES teacher(tno)</a:t>
            </a:r>
            <a:endParaRPr lang="zh-CN" altLang="en-US"/>
          </a:p>
          <a:p>
            <a:r>
              <a:rPr lang="zh-CN" altLang="en-US"/>
              <a:t>    由引用：</a:t>
            </a:r>
            <a:endParaRPr lang="zh-CN" altLang="en-US"/>
          </a:p>
          <a:p>
            <a:r>
              <a:rPr lang="zh-CN" altLang="en-US"/>
              <a:t>    TABLE "sc" CONSTRAINT "sc_cno_fkey" FOREIGN KEY (cno) REFERENCES course(cno)</a:t>
            </a:r>
            <a:endParaRPr lang="zh-CN" altLang="en-US"/>
          </a:p>
          <a:p>
            <a:r>
              <a:rPr lang="zh-CN" altLang="en-US"/>
              <a:t>    TABLE "schedule_entry" CONSTRAINT "schedule_entry_cno_fkey" FOREIGN KEY (cno) REFERENCES course(cno)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数据库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600" y="1962150"/>
            <a:ext cx="1169987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   数据表 "public.sc"</a:t>
            </a:r>
            <a:endParaRPr lang="zh-CN" altLang="en-US"/>
          </a:p>
          <a:p>
            <a:r>
              <a:rPr lang="zh-CN" altLang="en-US"/>
              <a:t>    栏位  </a:t>
            </a:r>
            <a:r>
              <a:rPr lang="en-US" altLang="zh-CN"/>
              <a:t> </a:t>
            </a:r>
            <a:r>
              <a:rPr lang="zh-CN" altLang="en-US"/>
              <a:t>|         类型          </a:t>
            </a:r>
            <a:r>
              <a:rPr lang="en-US" altLang="zh-CN"/>
              <a:t>         </a:t>
            </a:r>
            <a:r>
              <a:rPr lang="zh-CN" altLang="en-US"/>
              <a:t>| 校对规则 |  可空的  | 预设</a:t>
            </a:r>
            <a:endParaRPr lang="zh-CN" altLang="en-US"/>
          </a:p>
          <a:p>
            <a:r>
              <a:rPr lang="zh-CN" altLang="en-US"/>
              <a:t>    -------</a:t>
            </a:r>
            <a:r>
              <a:rPr lang="en-US" altLang="zh-CN"/>
              <a:t>-</a:t>
            </a:r>
            <a:r>
              <a:rPr lang="zh-CN" altLang="en-US"/>
              <a:t>+-----------------------</a:t>
            </a:r>
            <a:r>
              <a:rPr lang="en-US" altLang="zh-CN"/>
              <a:t>------</a:t>
            </a:r>
            <a:r>
              <a:rPr lang="zh-CN" altLang="en-US"/>
              <a:t>+----------</a:t>
            </a:r>
            <a:r>
              <a:rPr lang="en-US" altLang="zh-CN"/>
              <a:t>--</a:t>
            </a:r>
            <a:r>
              <a:rPr lang="zh-CN" altLang="en-US"/>
              <a:t>+----------+------</a:t>
            </a:r>
            <a:endParaRPr lang="zh-CN" altLang="en-US"/>
          </a:p>
          <a:p>
            <a:r>
              <a:rPr lang="zh-CN" altLang="en-US"/>
              <a:t>    sno   </a:t>
            </a:r>
            <a:r>
              <a:rPr lang="en-US" altLang="zh-CN"/>
              <a:t> </a:t>
            </a:r>
            <a:r>
              <a:rPr lang="zh-CN" altLang="en-US"/>
              <a:t>| character varying(20) |          </a:t>
            </a:r>
            <a:r>
              <a:rPr lang="en-US" altLang="zh-CN"/>
              <a:t>      </a:t>
            </a:r>
            <a:r>
              <a:rPr lang="zh-CN" altLang="en-US"/>
              <a:t>| not null |</a:t>
            </a:r>
            <a:endParaRPr lang="zh-CN" altLang="en-US"/>
          </a:p>
          <a:p>
            <a:r>
              <a:rPr lang="zh-CN" altLang="en-US"/>
              <a:t>    cno   </a:t>
            </a:r>
            <a:r>
              <a:rPr lang="en-US" altLang="zh-CN"/>
              <a:t> </a:t>
            </a:r>
            <a:r>
              <a:rPr lang="zh-CN" altLang="en-US"/>
              <a:t>| character varying(20) |          </a:t>
            </a:r>
            <a:r>
              <a:rPr lang="en-US" altLang="zh-CN"/>
              <a:t>      </a:t>
            </a:r>
            <a:r>
              <a:rPr lang="zh-CN" altLang="en-US"/>
              <a:t>| not null |</a:t>
            </a:r>
            <a:endParaRPr lang="zh-CN" altLang="en-US"/>
          </a:p>
          <a:p>
            <a:r>
              <a:rPr lang="zh-CN" altLang="en-US"/>
              <a:t>    grade | double precision      </a:t>
            </a:r>
            <a:r>
              <a:rPr lang="en-US" altLang="zh-CN"/>
              <a:t>  </a:t>
            </a:r>
            <a:r>
              <a:rPr lang="zh-CN" altLang="en-US"/>
              <a:t>|         </a:t>
            </a:r>
            <a:r>
              <a:rPr lang="en-US" altLang="zh-CN"/>
              <a:t>      </a:t>
            </a:r>
            <a:r>
              <a:rPr lang="zh-CN" altLang="en-US"/>
              <a:t> </a:t>
            </a:r>
            <a:r>
              <a:rPr lang="en-US" altLang="zh-CN"/>
              <a:t> </a:t>
            </a:r>
            <a:r>
              <a:rPr lang="zh-CN" altLang="en-US"/>
              <a:t>|  </a:t>
            </a:r>
            <a:r>
              <a:rPr lang="en-US" altLang="zh-CN"/>
              <a:t>   </a:t>
            </a:r>
            <a:r>
              <a:rPr lang="zh-CN" altLang="en-US"/>
              <a:t>        |</a:t>
            </a:r>
            <a:endParaRPr lang="zh-CN" altLang="en-US"/>
          </a:p>
          <a:p>
            <a:r>
              <a:rPr lang="zh-CN" altLang="en-US"/>
              <a:t>    索引：</a:t>
            </a:r>
            <a:endParaRPr lang="zh-CN" altLang="en-US"/>
          </a:p>
          <a:p>
            <a:r>
              <a:rPr lang="zh-CN" altLang="en-US"/>
              <a:t>    "sc_pkey" PRIMARY KEY, btree (sno, cno)</a:t>
            </a:r>
            <a:endParaRPr lang="zh-CN" altLang="en-US"/>
          </a:p>
          <a:p>
            <a:r>
              <a:rPr lang="zh-CN" altLang="en-US"/>
              <a:t>    外部键(FK)限制：</a:t>
            </a:r>
            <a:endParaRPr lang="zh-CN" altLang="en-US"/>
          </a:p>
          <a:p>
            <a:r>
              <a:rPr lang="zh-CN" altLang="en-US"/>
              <a:t>    "sc_cno_fkey" FOREIGN KEY (cno) REFERENCES course(cno)</a:t>
            </a:r>
            <a:endParaRPr lang="zh-CN" altLang="en-US"/>
          </a:p>
          <a:p>
            <a:r>
              <a:rPr lang="zh-CN" altLang="en-US"/>
              <a:t>    "sc_sno_fkey" FOREIGN KEY (sno) REFERENCES student(sno)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数据库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5750" y="1847850"/>
            <a:ext cx="114268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   数据表 "public.teacher"</a:t>
            </a:r>
            <a:endParaRPr lang="zh-CN" altLang="en-US"/>
          </a:p>
          <a:p>
            <a:r>
              <a:rPr lang="zh-CN" altLang="en-US"/>
              <a:t>    栏位  </a:t>
            </a:r>
            <a:r>
              <a:rPr lang="en-US" altLang="zh-CN"/>
              <a:t>  </a:t>
            </a:r>
            <a:r>
              <a:rPr lang="zh-CN" altLang="en-US"/>
              <a:t> </a:t>
            </a:r>
            <a:r>
              <a:rPr lang="en-US" altLang="zh-CN"/>
              <a:t>     </a:t>
            </a:r>
            <a:r>
              <a:rPr lang="zh-CN" altLang="en-US"/>
              <a:t>|         类型        </a:t>
            </a:r>
            <a:r>
              <a:rPr lang="en-US" altLang="zh-CN"/>
              <a:t>        </a:t>
            </a:r>
            <a:r>
              <a:rPr lang="zh-CN" altLang="en-US"/>
              <a:t>  | 校对规则 |  可空的  | 预设</a:t>
            </a:r>
            <a:endParaRPr lang="zh-CN" altLang="en-US"/>
          </a:p>
          <a:p>
            <a:r>
              <a:rPr lang="zh-CN" altLang="en-US"/>
              <a:t>    ----------</a:t>
            </a:r>
            <a:r>
              <a:rPr lang="en-US" altLang="zh-CN"/>
              <a:t>----</a:t>
            </a:r>
            <a:r>
              <a:rPr lang="zh-CN" altLang="en-US"/>
              <a:t>+-----------------------</a:t>
            </a:r>
            <a:r>
              <a:rPr lang="en-US" altLang="zh-CN"/>
              <a:t>-----</a:t>
            </a:r>
            <a:r>
              <a:rPr lang="zh-CN" altLang="en-US"/>
              <a:t>+-----</a:t>
            </a:r>
            <a:r>
              <a:rPr lang="en-US" altLang="zh-CN"/>
              <a:t>--</a:t>
            </a:r>
            <a:r>
              <a:rPr lang="zh-CN" altLang="en-US"/>
              <a:t>-----+----------+------</a:t>
            </a:r>
            <a:endParaRPr lang="zh-CN" altLang="en-US"/>
          </a:p>
          <a:p>
            <a:r>
              <a:rPr lang="zh-CN" altLang="en-US"/>
              <a:t>    tno      </a:t>
            </a:r>
            <a:r>
              <a:rPr lang="en-US" altLang="zh-CN"/>
              <a:t>      </a:t>
            </a:r>
            <a:r>
              <a:rPr lang="zh-CN" altLang="en-US"/>
              <a:t>| character varying(20) |  </a:t>
            </a:r>
            <a:r>
              <a:rPr lang="en-US" altLang="zh-CN"/>
              <a:t>    </a:t>
            </a:r>
            <a:r>
              <a:rPr lang="zh-CN" altLang="en-US"/>
              <a:t>  </a:t>
            </a:r>
            <a:r>
              <a:rPr lang="en-US" altLang="zh-CN"/>
              <a:t> </a:t>
            </a:r>
            <a:r>
              <a:rPr lang="zh-CN" altLang="en-US"/>
              <a:t>      | not null</a:t>
            </a:r>
            <a:r>
              <a:rPr lang="en-US" altLang="zh-CN"/>
              <a:t> </a:t>
            </a:r>
            <a:r>
              <a:rPr lang="zh-CN" altLang="en-US"/>
              <a:t> |</a:t>
            </a:r>
            <a:endParaRPr lang="zh-CN" altLang="en-US"/>
          </a:p>
          <a:p>
            <a:r>
              <a:rPr lang="zh-CN" altLang="en-US"/>
              <a:t>    tname    </a:t>
            </a:r>
            <a:r>
              <a:rPr lang="en-US" altLang="zh-CN"/>
              <a:t>   </a:t>
            </a:r>
            <a:r>
              <a:rPr lang="zh-CN" altLang="en-US"/>
              <a:t>| character varying(20) |         </a:t>
            </a:r>
            <a:r>
              <a:rPr lang="en-US" altLang="zh-CN"/>
              <a:t>     </a:t>
            </a:r>
            <a:r>
              <a:rPr lang="zh-CN" altLang="en-US"/>
              <a:t> |       </a:t>
            </a:r>
            <a:r>
              <a:rPr lang="en-US" altLang="zh-CN"/>
              <a:t>     </a:t>
            </a:r>
            <a:r>
              <a:rPr lang="zh-CN" altLang="en-US"/>
              <a:t>   |</a:t>
            </a:r>
            <a:endParaRPr lang="zh-CN" altLang="en-US"/>
          </a:p>
          <a:p>
            <a:r>
              <a:rPr lang="zh-CN" altLang="en-US"/>
              <a:t>    tacademy</a:t>
            </a:r>
            <a:r>
              <a:rPr lang="en-US" altLang="zh-CN"/>
              <a:t> </a:t>
            </a:r>
            <a:r>
              <a:rPr lang="zh-CN" altLang="en-US"/>
              <a:t> | character varying(20) |          </a:t>
            </a:r>
            <a:r>
              <a:rPr lang="en-US" altLang="zh-CN"/>
              <a:t>    </a:t>
            </a:r>
            <a:r>
              <a:rPr lang="zh-CN" altLang="en-US"/>
              <a:t>| </a:t>
            </a:r>
            <a:r>
              <a:rPr lang="en-US" altLang="zh-CN"/>
              <a:t>      </a:t>
            </a:r>
            <a:r>
              <a:rPr lang="zh-CN" altLang="en-US"/>
              <a:t>         |</a:t>
            </a:r>
            <a:endParaRPr lang="zh-CN" altLang="en-US"/>
          </a:p>
          <a:p>
            <a:r>
              <a:rPr lang="zh-CN" altLang="en-US"/>
              <a:t>    索引：</a:t>
            </a:r>
            <a:endParaRPr lang="zh-CN" altLang="en-US"/>
          </a:p>
          <a:p>
            <a:r>
              <a:rPr lang="zh-CN" altLang="en-US"/>
              <a:t>    "teacher_pkey" PRIMARY KEY, btree (tno)</a:t>
            </a:r>
            <a:endParaRPr lang="zh-CN" altLang="en-US"/>
          </a:p>
          <a:p>
            <a:r>
              <a:rPr lang="zh-CN" altLang="en-US"/>
              <a:t>    由引用：</a:t>
            </a:r>
            <a:endParaRPr lang="zh-CN" altLang="en-US"/>
          </a:p>
          <a:p>
            <a:r>
              <a:rPr lang="zh-CN" altLang="en-US"/>
              <a:t>    TABLE "course" CONSTRAINT "course_tno_fkey" FOREIGN KEY (tno) REFERENCES teacher(tno)</a:t>
            </a:r>
            <a:endParaRPr lang="zh-CN" altLang="en-US"/>
          </a:p>
          <a:p>
            <a:r>
              <a:rPr lang="zh-CN" altLang="en-US"/>
              <a:t>    TABLE "schedule_entry" CONSTRAINT "schedule_entry_tno_fkey" FOREIGN KEY (tno) REFERENCES teacher(tno)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数据库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225" y="2420620"/>
            <a:ext cx="9114790" cy="3044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    数据表 "public.tsecretary"</a:t>
            </a:r>
            <a:endParaRPr lang="zh-CN" altLang="en-US"/>
          </a:p>
          <a:p>
            <a:r>
              <a:rPr lang="zh-CN" altLang="en-US"/>
              <a:t>    栏位    </a:t>
            </a:r>
            <a:r>
              <a:rPr lang="en-US" altLang="zh-CN"/>
              <a:t>      </a:t>
            </a:r>
            <a:r>
              <a:rPr lang="zh-CN" altLang="en-US"/>
              <a:t>|         类型         </a:t>
            </a:r>
            <a:r>
              <a:rPr lang="en-US" altLang="zh-CN"/>
              <a:t>          </a:t>
            </a:r>
            <a:r>
              <a:rPr lang="zh-CN" altLang="en-US"/>
              <a:t> | 校对规则 |  可空的  | 预设</a:t>
            </a:r>
            <a:endParaRPr lang="zh-CN" altLang="en-US"/>
          </a:p>
          <a:p>
            <a:r>
              <a:rPr lang="zh-CN" altLang="en-US"/>
              <a:t>    -----------</a:t>
            </a:r>
            <a:r>
              <a:rPr lang="en-US" altLang="zh-CN"/>
              <a:t>---</a:t>
            </a:r>
            <a:r>
              <a:rPr lang="zh-CN" altLang="en-US"/>
              <a:t>+----------------------</a:t>
            </a:r>
            <a:r>
              <a:rPr lang="en-US" altLang="zh-CN"/>
              <a:t>------</a:t>
            </a:r>
            <a:r>
              <a:rPr lang="zh-CN" altLang="en-US"/>
              <a:t>-+----------</a:t>
            </a:r>
            <a:r>
              <a:rPr lang="en-US" altLang="zh-CN"/>
              <a:t>---</a:t>
            </a:r>
            <a:r>
              <a:rPr lang="zh-CN" altLang="en-US"/>
              <a:t>+----------+------</a:t>
            </a:r>
            <a:endParaRPr lang="zh-CN" altLang="en-US"/>
          </a:p>
          <a:p>
            <a:r>
              <a:rPr lang="zh-CN" altLang="en-US"/>
              <a:t>    tsno      </a:t>
            </a:r>
            <a:r>
              <a:rPr lang="en-US" altLang="zh-CN"/>
              <a:t>     </a:t>
            </a:r>
            <a:r>
              <a:rPr lang="zh-CN" altLang="en-US"/>
              <a:t>| character varying(20) |          </a:t>
            </a:r>
            <a:r>
              <a:rPr lang="en-US" altLang="zh-CN"/>
              <a:t>      </a:t>
            </a:r>
            <a:r>
              <a:rPr lang="zh-CN" altLang="en-US"/>
              <a:t>| not null |</a:t>
            </a:r>
            <a:endParaRPr lang="zh-CN" altLang="en-US"/>
          </a:p>
          <a:p>
            <a:r>
              <a:rPr lang="zh-CN" altLang="en-US"/>
              <a:t>    tsname    </a:t>
            </a:r>
            <a:r>
              <a:rPr lang="en-US" altLang="zh-CN"/>
              <a:t>  </a:t>
            </a:r>
            <a:r>
              <a:rPr lang="zh-CN" altLang="en-US"/>
              <a:t>| character varying(20) |      </a:t>
            </a:r>
            <a:r>
              <a:rPr lang="en-US" altLang="zh-CN"/>
              <a:t>      </a:t>
            </a:r>
            <a:r>
              <a:rPr lang="zh-CN" altLang="en-US"/>
              <a:t>    |        </a:t>
            </a:r>
            <a:r>
              <a:rPr lang="en-US" altLang="zh-CN"/>
              <a:t>    </a:t>
            </a:r>
            <a:r>
              <a:rPr lang="zh-CN" altLang="en-US"/>
              <a:t>  |</a:t>
            </a:r>
            <a:endParaRPr lang="zh-CN" altLang="en-US"/>
          </a:p>
          <a:p>
            <a:r>
              <a:rPr lang="zh-CN" altLang="en-US"/>
              <a:t>    tsacademy | character varying(20) |      </a:t>
            </a:r>
            <a:r>
              <a:rPr lang="en-US" altLang="zh-CN"/>
              <a:t>      </a:t>
            </a:r>
            <a:r>
              <a:rPr lang="zh-CN" altLang="en-US"/>
              <a:t>    |        </a:t>
            </a:r>
            <a:r>
              <a:rPr lang="en-US" altLang="zh-CN"/>
              <a:t>   </a:t>
            </a:r>
            <a:r>
              <a:rPr lang="zh-CN" altLang="en-US"/>
              <a:t>  |</a:t>
            </a:r>
            <a:endParaRPr lang="zh-CN" altLang="en-US"/>
          </a:p>
          <a:p>
            <a:r>
              <a:rPr lang="zh-CN" altLang="en-US"/>
              <a:t>    索引：</a:t>
            </a:r>
            <a:r>
              <a:rPr lang="en-US" altLang="zh-CN"/>
              <a:t>  </a:t>
            </a:r>
            <a:endParaRPr lang="zh-CN" altLang="en-US"/>
          </a:p>
          <a:p>
            <a:r>
              <a:rPr lang="zh-CN" altLang="en-US"/>
              <a:t>    "tsecretary_pkey" PRIMARY KEY, btree (tsno)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数据库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2098675"/>
            <a:ext cx="11085830" cy="4417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    数据表 "public.schedule_entry"</a:t>
            </a:r>
            <a:endParaRPr lang="zh-CN" altLang="en-US"/>
          </a:p>
          <a:p>
            <a:r>
              <a:rPr lang="zh-CN" altLang="en-US"/>
              <a:t>    栏位    </a:t>
            </a:r>
            <a:r>
              <a:rPr lang="en-US" altLang="zh-CN"/>
              <a:t>      </a:t>
            </a:r>
            <a:r>
              <a:rPr lang="zh-CN" altLang="en-US"/>
              <a:t>|         类型          </a:t>
            </a:r>
            <a:r>
              <a:rPr lang="en-US" altLang="zh-CN"/>
              <a:t>          </a:t>
            </a:r>
            <a:r>
              <a:rPr lang="zh-CN" altLang="en-US"/>
              <a:t>| 校对规则 |  可空的  | 预设</a:t>
            </a:r>
            <a:endParaRPr lang="zh-CN" altLang="en-US"/>
          </a:p>
          <a:p>
            <a:r>
              <a:rPr lang="zh-CN" altLang="en-US"/>
              <a:t>    ------------</a:t>
            </a:r>
            <a:r>
              <a:rPr lang="en-US" altLang="zh-CN"/>
              <a:t>--</a:t>
            </a:r>
            <a:r>
              <a:rPr lang="zh-CN" altLang="en-US"/>
              <a:t>+----------------------</a:t>
            </a:r>
            <a:r>
              <a:rPr lang="en-US" altLang="zh-CN"/>
              <a:t>-------</a:t>
            </a:r>
            <a:r>
              <a:rPr lang="zh-CN" altLang="en-US"/>
              <a:t>-+----------</a:t>
            </a:r>
            <a:r>
              <a:rPr lang="en-US" altLang="zh-CN"/>
              <a:t>--</a:t>
            </a:r>
            <a:r>
              <a:rPr lang="zh-CN" altLang="en-US"/>
              <a:t>+----------+------</a:t>
            </a:r>
            <a:endParaRPr lang="zh-CN" altLang="en-US"/>
          </a:p>
          <a:p>
            <a:r>
              <a:rPr lang="zh-CN" altLang="en-US"/>
              <a:t>    entryid    </a:t>
            </a:r>
            <a:r>
              <a:rPr lang="en-US" altLang="zh-CN"/>
              <a:t>   </a:t>
            </a:r>
            <a:r>
              <a:rPr lang="zh-CN" altLang="en-US"/>
              <a:t>| character varying(20) |         </a:t>
            </a:r>
            <a:r>
              <a:rPr lang="en-US" altLang="zh-CN"/>
              <a:t>      </a:t>
            </a:r>
            <a:r>
              <a:rPr lang="zh-CN" altLang="en-US"/>
              <a:t> | not null |</a:t>
            </a:r>
            <a:endParaRPr lang="zh-CN" altLang="en-US"/>
          </a:p>
          <a:p>
            <a:r>
              <a:rPr lang="zh-CN" altLang="en-US"/>
              <a:t>    scheduleid | character varying(20) |         </a:t>
            </a:r>
            <a:r>
              <a:rPr lang="en-US" altLang="zh-CN"/>
              <a:t>      </a:t>
            </a:r>
            <a:r>
              <a:rPr lang="zh-CN" altLang="en-US"/>
              <a:t> |          </a:t>
            </a:r>
            <a:r>
              <a:rPr lang="en-US" altLang="zh-CN"/>
              <a:t>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cno        </a:t>
            </a:r>
            <a:r>
              <a:rPr lang="en-US" altLang="zh-CN"/>
              <a:t>    </a:t>
            </a:r>
            <a:r>
              <a:rPr lang="zh-CN" altLang="en-US"/>
              <a:t>| character varying(20) |          </a:t>
            </a:r>
            <a:r>
              <a:rPr lang="en-US" altLang="zh-CN"/>
              <a:t>      </a:t>
            </a:r>
            <a:r>
              <a:rPr lang="zh-CN" altLang="en-US"/>
              <a:t>|          </a:t>
            </a:r>
            <a:r>
              <a:rPr lang="en-US" altLang="zh-CN"/>
              <a:t> 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tno        </a:t>
            </a:r>
            <a:r>
              <a:rPr lang="en-US" altLang="zh-CN"/>
              <a:t>     </a:t>
            </a:r>
            <a:r>
              <a:rPr lang="zh-CN" altLang="en-US"/>
              <a:t>| character varying(20) |          </a:t>
            </a:r>
            <a:r>
              <a:rPr lang="en-US" altLang="zh-CN"/>
              <a:t>      </a:t>
            </a:r>
            <a:r>
              <a:rPr lang="zh-CN" altLang="en-US"/>
              <a:t>|          </a:t>
            </a:r>
            <a:r>
              <a:rPr lang="en-US" altLang="zh-CN"/>
              <a:t> 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time       </a:t>
            </a:r>
            <a:r>
              <a:rPr lang="en-US" altLang="zh-CN"/>
              <a:t>    </a:t>
            </a:r>
            <a:r>
              <a:rPr lang="zh-CN" altLang="en-US"/>
              <a:t>| character varying(20) |          </a:t>
            </a:r>
            <a:r>
              <a:rPr lang="en-US" altLang="zh-CN"/>
              <a:t>      </a:t>
            </a:r>
            <a:r>
              <a:rPr lang="zh-CN" altLang="en-US"/>
              <a:t>|      </a:t>
            </a:r>
            <a:r>
              <a:rPr lang="en-US" altLang="zh-CN"/>
              <a:t>    </a:t>
            </a:r>
            <a:r>
              <a:rPr lang="zh-CN" altLang="en-US"/>
              <a:t>    |</a:t>
            </a:r>
            <a:endParaRPr lang="zh-CN" altLang="en-US"/>
          </a:p>
          <a:p>
            <a:r>
              <a:rPr lang="zh-CN" altLang="en-US"/>
              <a:t>    classroom  | character varying(20) |          </a:t>
            </a:r>
            <a:r>
              <a:rPr lang="en-US" altLang="zh-CN"/>
              <a:t>     </a:t>
            </a:r>
            <a:r>
              <a:rPr lang="zh-CN" altLang="en-US"/>
              <a:t>| </a:t>
            </a:r>
            <a:r>
              <a:rPr lang="en-US" altLang="zh-CN"/>
              <a:t>     </a:t>
            </a:r>
            <a:r>
              <a:rPr lang="zh-CN" altLang="en-US"/>
              <a:t>         |</a:t>
            </a:r>
            <a:endParaRPr lang="zh-CN" altLang="en-US"/>
          </a:p>
          <a:p>
            <a:r>
              <a:rPr lang="zh-CN" altLang="en-US"/>
              <a:t>    索引：</a:t>
            </a:r>
            <a:endParaRPr lang="zh-CN" altLang="en-US"/>
          </a:p>
          <a:p>
            <a:r>
              <a:rPr lang="zh-CN" altLang="en-US"/>
              <a:t>    "schedule_entry_pkey" PRIMARY KEY, btree (entryid)</a:t>
            </a:r>
            <a:endParaRPr lang="zh-CN" altLang="en-US"/>
          </a:p>
          <a:p>
            <a:r>
              <a:rPr lang="zh-CN" altLang="en-US"/>
              <a:t>    外部键(FK)限制：</a:t>
            </a:r>
            <a:endParaRPr lang="zh-CN" altLang="en-US"/>
          </a:p>
          <a:p>
            <a:r>
              <a:rPr lang="zh-CN" altLang="en-US"/>
              <a:t>    "schedule_entry_cno_fkey" FOREIGN KEY (cno) REFERENCES course(cno)</a:t>
            </a:r>
            <a:endParaRPr lang="zh-CN" altLang="en-US"/>
          </a:p>
          <a:p>
            <a:r>
              <a:rPr lang="zh-CN" altLang="en-US"/>
              <a:t>    "schedule_entry_scheduleid_fkey" FOREIGN KEY (scheduleid) REFERENCES schedule(scheduleid)</a:t>
            </a:r>
            <a:endParaRPr lang="zh-CN" altLang="en-US"/>
          </a:p>
          <a:p>
            <a:r>
              <a:rPr lang="zh-CN" altLang="en-US"/>
              <a:t>    "schedule_entry_tno_fkey" FOREIGN KEY (tno) REFERENCES teacher(tno)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数据库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0985" y="2020570"/>
            <a:ext cx="11640185" cy="4475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    数据表 "public.schedule"</a:t>
            </a:r>
            <a:endParaRPr lang="zh-CN" altLang="en-US"/>
          </a:p>
          <a:p>
            <a:r>
              <a:rPr lang="zh-CN" altLang="en-US"/>
              <a:t>    栏位    </a:t>
            </a:r>
            <a:r>
              <a:rPr lang="en-US" altLang="zh-CN"/>
              <a:t>       </a:t>
            </a:r>
            <a:r>
              <a:rPr lang="zh-CN" altLang="en-US"/>
              <a:t>|         类型          </a:t>
            </a:r>
            <a:r>
              <a:rPr lang="en-US" altLang="zh-CN"/>
              <a:t>          </a:t>
            </a:r>
            <a:r>
              <a:rPr lang="zh-CN" altLang="en-US"/>
              <a:t>| 校对规则 |  可空的  | 预设</a:t>
            </a:r>
            <a:endParaRPr lang="zh-CN" altLang="en-US"/>
          </a:p>
          <a:p>
            <a:r>
              <a:rPr lang="zh-CN" altLang="en-US"/>
              <a:t>    ------------</a:t>
            </a:r>
            <a:r>
              <a:rPr lang="en-US" altLang="zh-CN"/>
              <a:t>---</a:t>
            </a:r>
            <a:r>
              <a:rPr lang="zh-CN" altLang="en-US"/>
              <a:t>+------------------</a:t>
            </a:r>
            <a:r>
              <a:rPr lang="en-US" altLang="zh-CN"/>
              <a:t>------</a:t>
            </a:r>
            <a:r>
              <a:rPr lang="zh-CN" altLang="en-US"/>
              <a:t>-----+----------</a:t>
            </a:r>
            <a:r>
              <a:rPr lang="en-US" altLang="zh-CN"/>
              <a:t>--</a:t>
            </a:r>
            <a:r>
              <a:rPr lang="zh-CN" altLang="en-US"/>
              <a:t>+----------</a:t>
            </a:r>
            <a:r>
              <a:rPr lang="en-US" altLang="zh-CN"/>
              <a:t>-</a:t>
            </a:r>
            <a:r>
              <a:rPr lang="zh-CN" altLang="en-US"/>
              <a:t>+------</a:t>
            </a:r>
            <a:endParaRPr lang="zh-CN" altLang="en-US"/>
          </a:p>
          <a:p>
            <a:r>
              <a:rPr lang="zh-CN" altLang="en-US"/>
              <a:t>    scheduleid | character varying(20) |          </a:t>
            </a:r>
            <a:r>
              <a:rPr lang="en-US" altLang="zh-CN"/>
              <a:t>      </a:t>
            </a:r>
            <a:r>
              <a:rPr lang="zh-CN" altLang="en-US"/>
              <a:t>| not null</a:t>
            </a:r>
            <a:r>
              <a:rPr lang="en-US" altLang="zh-CN"/>
              <a:t>  </a:t>
            </a:r>
            <a:r>
              <a:rPr lang="zh-CN" altLang="en-US"/>
              <a:t> |</a:t>
            </a:r>
            <a:endParaRPr lang="zh-CN" altLang="en-US"/>
          </a:p>
          <a:p>
            <a:r>
              <a:rPr lang="zh-CN" altLang="en-US"/>
              <a:t>    term       </a:t>
            </a:r>
            <a:r>
              <a:rPr lang="en-US" altLang="zh-CN"/>
              <a:t>    </a:t>
            </a:r>
            <a:r>
              <a:rPr lang="zh-CN" altLang="en-US"/>
              <a:t>| character varying(20) |          </a:t>
            </a:r>
            <a:r>
              <a:rPr lang="en-US" altLang="zh-CN"/>
              <a:t>      </a:t>
            </a:r>
            <a:r>
              <a:rPr lang="zh-CN" altLang="en-US"/>
              <a:t>| </a:t>
            </a:r>
            <a:r>
              <a:rPr lang="en-US" altLang="zh-CN"/>
              <a:t>      </a:t>
            </a:r>
            <a:r>
              <a:rPr lang="zh-CN" altLang="en-US"/>
              <a:t>         |</a:t>
            </a:r>
            <a:endParaRPr lang="zh-CN" altLang="en-US"/>
          </a:p>
          <a:p>
            <a:r>
              <a:rPr lang="zh-CN" altLang="en-US"/>
              <a:t>    acadamy    | character varying(20) |        </a:t>
            </a:r>
            <a:r>
              <a:rPr lang="en-US" altLang="zh-CN"/>
              <a:t>      </a:t>
            </a:r>
            <a:r>
              <a:rPr lang="zh-CN" altLang="en-US"/>
              <a:t>  |          </a:t>
            </a:r>
            <a:r>
              <a:rPr lang="en-US" altLang="zh-CN"/>
              <a:t>   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major    </a:t>
            </a:r>
            <a:r>
              <a:rPr lang="en-US" altLang="zh-CN"/>
              <a:t>    </a:t>
            </a:r>
            <a:r>
              <a:rPr lang="zh-CN" altLang="en-US"/>
              <a:t>  | character varying(20) |          </a:t>
            </a:r>
            <a:r>
              <a:rPr lang="en-US" altLang="zh-CN"/>
              <a:t>      </a:t>
            </a:r>
            <a:r>
              <a:rPr lang="zh-CN" altLang="en-US"/>
              <a:t>|         </a:t>
            </a:r>
            <a:r>
              <a:rPr lang="en-US" altLang="zh-CN"/>
              <a:t>     </a:t>
            </a:r>
            <a:r>
              <a:rPr lang="zh-CN" altLang="en-US"/>
              <a:t> |</a:t>
            </a:r>
            <a:endParaRPr lang="zh-CN" altLang="en-US"/>
          </a:p>
          <a:p>
            <a:r>
              <a:rPr lang="zh-CN" altLang="en-US"/>
              <a:t>    gradelevel | character varying(10) </a:t>
            </a:r>
            <a:r>
              <a:rPr lang="en-US" altLang="zh-CN"/>
              <a:t> </a:t>
            </a:r>
            <a:r>
              <a:rPr lang="zh-CN" altLang="en-US"/>
              <a:t>|  </a:t>
            </a:r>
            <a:r>
              <a:rPr lang="en-US" altLang="zh-CN"/>
              <a:t>      </a:t>
            </a:r>
            <a:r>
              <a:rPr lang="zh-CN" altLang="en-US"/>
              <a:t>        |          </a:t>
            </a:r>
            <a:r>
              <a:rPr lang="en-US" altLang="zh-CN"/>
              <a:t>      </a:t>
            </a:r>
            <a:r>
              <a:rPr lang="zh-CN" altLang="en-US"/>
              <a:t>|</a:t>
            </a:r>
            <a:endParaRPr lang="zh-CN" altLang="en-US"/>
          </a:p>
          <a:p>
            <a:r>
              <a:rPr lang="zh-CN" altLang="en-US"/>
              <a:t>    索引：</a:t>
            </a:r>
            <a:endParaRPr lang="zh-CN" altLang="en-US"/>
          </a:p>
          <a:p>
            <a:r>
              <a:rPr lang="zh-CN" altLang="en-US"/>
              <a:t>    "schedule_pkey" PRIMARY KEY, btree (scheduleid)</a:t>
            </a:r>
            <a:endParaRPr lang="zh-CN" altLang="en-US"/>
          </a:p>
          <a:p>
            <a:r>
              <a:rPr lang="zh-CN" altLang="en-US"/>
              <a:t>    由引用：</a:t>
            </a:r>
            <a:endParaRPr lang="zh-CN" altLang="en-US"/>
          </a:p>
          <a:p>
            <a:r>
              <a:rPr lang="zh-CN" altLang="en-US"/>
              <a:t>    TABLE "schedule_entry" CONSTRAINT "schedule_entry_scheduleid_fkey" FOREIGN KEY (scheduleid) REFERENCES schedule(scheduleid)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527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43475" y="764540"/>
            <a:ext cx="1871980" cy="11525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280025" y="756285"/>
            <a:ext cx="1809750" cy="1253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>
                <a:latin typeface="华文中宋" panose="02010600040101010101" charset="-122"/>
                <a:ea typeface="华文中宋" panose="02010600040101010101" charset="-122"/>
              </a:rPr>
              <a:t>02</a:t>
            </a:r>
            <a:endParaRPr lang="en-US" altLang="zh-CN" sz="72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47440" y="2204720"/>
            <a:ext cx="4680585" cy="64833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562475" y="2247900"/>
            <a:ext cx="5637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选课系统</a:t>
            </a:r>
            <a:endParaRPr lang="zh-CN" altLang="en-US" sz="32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50080" y="3148330"/>
            <a:ext cx="4237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华文中宋" panose="02010600040101010101" charset="-122"/>
                <a:ea typeface="华文中宋" panose="02010600040101010101" charset="-122"/>
              </a:rPr>
              <a:t>程序实现</a:t>
            </a:r>
            <a:endParaRPr lang="zh-CN" altLang="en-US" sz="54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程序实现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1270" y="14128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表现层</a:t>
            </a:r>
            <a:r>
              <a:rPr lang="en-US" altLang="zh-CN" sz="2800"/>
              <a:t>ui</a:t>
            </a: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595" y="1701165"/>
            <a:ext cx="5743575" cy="4657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程序实现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1270" y="14128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数据管理层</a:t>
            </a:r>
            <a:r>
              <a:rPr lang="en-US" altLang="zh-CN" sz="2800"/>
              <a:t>broker</a:t>
            </a: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1385"/>
            <a:ext cx="4428490" cy="3129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程序实现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280" y="1412240"/>
            <a:ext cx="2628265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应用逻辑层</a:t>
            </a:r>
            <a:r>
              <a:rPr lang="en-US" altLang="zh-CN" sz="2800"/>
              <a:t>registrar</a:t>
            </a: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105" y="-819150"/>
            <a:ext cx="9140190" cy="7949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程序实现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1270" y="14128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领域层</a:t>
            </a:r>
            <a:r>
              <a:rPr lang="en-US" altLang="zh-CN" sz="2800"/>
              <a:t>domian</a:t>
            </a: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15" y="2204720"/>
            <a:ext cx="3681730" cy="2957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527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43475" y="764540"/>
            <a:ext cx="1871980" cy="11525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280025" y="756285"/>
            <a:ext cx="1809750" cy="1253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>
                <a:latin typeface="华文中宋" panose="02010600040101010101" charset="-122"/>
                <a:ea typeface="华文中宋" panose="02010600040101010101" charset="-122"/>
              </a:rPr>
              <a:t>03</a:t>
            </a:r>
            <a:endParaRPr lang="en-US" altLang="zh-CN" sz="72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47440" y="2204720"/>
            <a:ext cx="4680585" cy="64833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562475" y="2247900"/>
            <a:ext cx="5637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选课系统</a:t>
            </a:r>
            <a:endParaRPr lang="zh-CN" altLang="en-US" sz="32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50080" y="3148330"/>
            <a:ext cx="4237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华文中宋" panose="02010600040101010101" charset="-122"/>
                <a:ea typeface="华文中宋" panose="02010600040101010101" charset="-122"/>
              </a:rPr>
              <a:t>程序测试</a:t>
            </a:r>
            <a:endParaRPr lang="zh-CN" altLang="en-US" sz="54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程序测试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3525" y="1412875"/>
            <a:ext cx="1064260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展示运行结果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315" y="1268730"/>
            <a:ext cx="4003675" cy="5412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0" y="2781300"/>
            <a:ext cx="6087110" cy="3940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42555"/>
          <a:stretch>
            <a:fillRect/>
          </a:stretch>
        </p:blipFill>
        <p:spPr>
          <a:xfrm>
            <a:off x="1055370" y="908685"/>
            <a:ext cx="4837430" cy="53295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58762"/>
          <a:stretch>
            <a:fillRect/>
          </a:stretch>
        </p:blipFill>
        <p:spPr>
          <a:xfrm>
            <a:off x="6167755" y="1917065"/>
            <a:ext cx="5412740" cy="4279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-27305"/>
            <a:ext cx="3016885" cy="64604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0" y="44450"/>
            <a:ext cx="4199255" cy="67576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855" y="5445125"/>
            <a:ext cx="5995035" cy="1289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0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359525"/>
            <a:ext cx="12192000" cy="4984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5275" y="19050"/>
            <a:ext cx="15532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4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43475" y="764540"/>
            <a:ext cx="1871980" cy="11525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280025" y="756285"/>
            <a:ext cx="1809750" cy="1253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>
                <a:latin typeface="华文中宋" panose="02010600040101010101" charset="-122"/>
                <a:ea typeface="华文中宋" panose="02010600040101010101" charset="-122"/>
              </a:rPr>
              <a:t>04</a:t>
            </a:r>
            <a:endParaRPr lang="en-US" altLang="zh-CN" sz="72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47440" y="2204720"/>
            <a:ext cx="4680585" cy="64833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562475" y="2247900"/>
            <a:ext cx="5637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</a:rPr>
              <a:t>选课系统</a:t>
            </a:r>
            <a:endParaRPr lang="zh-CN" altLang="en-US" sz="32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50080" y="3148330"/>
            <a:ext cx="4237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华文中宋" panose="02010600040101010101" charset="-122"/>
                <a:ea typeface="华文中宋" panose="02010600040101010101" charset="-122"/>
              </a:rPr>
              <a:t>程序总结</a:t>
            </a:r>
            <a:endParaRPr lang="zh-CN" altLang="en-US" sz="54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541020"/>
            <a:ext cx="12192000" cy="708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5110" y="634365"/>
            <a:ext cx="17818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chemeClr val="accent2">
                    <a:lumMod val="40000"/>
                    <a:lumOff val="6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Calibri Light" panose="020F0302020204030204" charset="0"/>
              </a:rPr>
              <a:t>TITLE HERE</a:t>
            </a:r>
            <a:endParaRPr lang="en-US" altLang="zh-CN" sz="2800" b="1">
              <a:solidFill>
                <a:schemeClr val="accent2">
                  <a:lumMod val="40000"/>
                  <a:lumOff val="6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Calibri Light" panose="020F030202020403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055" y="8128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程序总结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6370" y="1316990"/>
            <a:ext cx="2080895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800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9425" y="1412875"/>
            <a:ext cx="8159115" cy="1459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陈雨欣：主要实现数据管理层，应用逻辑层</a:t>
            </a:r>
            <a:endParaRPr lang="zh-CN" altLang="en-US" sz="2400"/>
          </a:p>
          <a:p>
            <a:r>
              <a:rPr lang="zh-CN" altLang="en-US" sz="2400"/>
              <a:t>李思思：选课部分领域层，表现层</a:t>
            </a:r>
            <a:endParaRPr lang="zh-CN" altLang="en-US" sz="2400"/>
          </a:p>
          <a:p>
            <a:r>
              <a:rPr lang="zh-CN" altLang="en-US" sz="2400"/>
              <a:t>谭晶晶：排课部分领域层，应用文档，表现层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等腰三角形 5"/>
          <p:cNvSpPr/>
          <p:nvPr/>
        </p:nvSpPr>
        <p:spPr>
          <a:xfrm rot="5400000" flipH="1">
            <a:off x="-1449070" y="1449070"/>
            <a:ext cx="6858635" cy="3960495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 flipH="1">
            <a:off x="-236855" y="236855"/>
            <a:ext cx="5605145" cy="5131435"/>
          </a:xfrm>
          <a:prstGeom prst="triangle">
            <a:avLst>
              <a:gd name="adj" fmla="val 7538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flipH="1">
            <a:off x="170815" y="4364990"/>
            <a:ext cx="4912360" cy="2557780"/>
          </a:xfrm>
          <a:prstGeom prst="triangle">
            <a:avLst>
              <a:gd name="adj" fmla="val 399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10800000" flipH="1">
            <a:off x="170815" y="0"/>
            <a:ext cx="10298430" cy="1505585"/>
          </a:xfrm>
          <a:prstGeom prst="triangle">
            <a:avLst>
              <a:gd name="adj" fmla="val 5474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31435" y="2292985"/>
            <a:ext cx="47726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0">
                <a:solidFill>
                  <a:schemeClr val="accent3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谢谢</a:t>
            </a:r>
            <a:r>
              <a:rPr lang="zh-CN" altLang="en-US" sz="8000">
                <a:solidFill>
                  <a:schemeClr val="accent3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观看</a:t>
            </a:r>
            <a:endParaRPr lang="zh-CN" altLang="en-US" sz="8000">
              <a:solidFill>
                <a:schemeClr val="accent3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3940" y="3778885"/>
            <a:ext cx="6461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4F78C9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THANKS FOR YOUR WATCHING</a:t>
            </a:r>
            <a:endParaRPr lang="en-US" altLang="zh-CN" sz="2800">
              <a:solidFill>
                <a:srgbClr val="4F78C9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22215" y="4982210"/>
            <a:ext cx="6170295" cy="4711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.1,&quot;left&quot;:76.4,&quot;top&quot;:421.15,&quot;width&quot;:485.85}"/>
</p:tagLst>
</file>

<file path=ppt/tags/tag2.xml><?xml version="1.0" encoding="utf-8"?>
<p:tagLst xmlns:p="http://schemas.openxmlformats.org/presentationml/2006/main">
  <p:tag name="KSO_WM_DIAGRAM_VIRTUALLY_FRAME" val="{&quot;height&quot;:37.1,&quot;left&quot;:76.4,&quot;top&quot;:421.15,&quot;width&quot;:485.85}"/>
</p:tagLst>
</file>

<file path=ppt/tags/tag3.xml><?xml version="1.0" encoding="utf-8"?>
<p:tagLst xmlns:p="http://schemas.openxmlformats.org/presentationml/2006/main">
  <p:tag name="KSO_WM_DIAGRAM_VIRTUALLY_FRAME" val="{&quot;height&quot;:37.1,&quot;left&quot;:76.4,&quot;top&quot;:421.15,&quot;width&quot;:485.85}"/>
</p:tagLst>
</file>

<file path=ppt/tags/tag4.xml><?xml version="1.0" encoding="utf-8"?>
<p:tagLst xmlns:p="http://schemas.openxmlformats.org/presentationml/2006/main">
  <p:tag name="KSO_WM_DIAGRAM_VIRTUALLY_FRAME" val="{&quot;height&quot;:37.1,&quot;left&quot;:76.4,&quot;top&quot;:421.15,&quot;width&quot;:485.85}"/>
</p:tagLst>
</file>

<file path=ppt/tags/tag5.xml><?xml version="1.0" encoding="utf-8"?>
<p:tagLst xmlns:p="http://schemas.openxmlformats.org/presentationml/2006/main">
  <p:tag name="KSO_WM_DIAGRAM_VIRTUALLY_FRAME" val="{&quot;height&quot;:37.1,&quot;left&quot;:76.4,&quot;top&quot;:421.15,&quot;width&quot;:485.85}"/>
</p:tagLst>
</file>

<file path=ppt/tags/tag6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7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8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9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0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1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2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3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4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5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6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7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8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19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0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1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2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3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4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5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6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7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8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ags/tag29.xml><?xml version="1.0" encoding="utf-8"?>
<p:tagLst xmlns:p="http://schemas.openxmlformats.org/presentationml/2006/main">
  <p:tag name="KSO_WM_DIAGRAM_VIRTUALLY_FRAME" val="{&quot;height&quot;:261.35,&quot;left&quot;:75.75,&quot;top&quot;:174.15,&quot;width&quot;:810.65}"/>
</p:tagLst>
</file>

<file path=ppt/theme/theme1.xml><?xml version="1.0" encoding="utf-8"?>
<a:theme xmlns:a="http://schemas.openxmlformats.org/drawingml/2006/main" name="默认设计模板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6452</Words>
  <Application>WPS 演示</Application>
  <PresentationFormat/>
  <Paragraphs>322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宋体</vt:lpstr>
      <vt:lpstr>Wingdings</vt:lpstr>
      <vt:lpstr>方正书宋_GBK</vt:lpstr>
      <vt:lpstr>思源黑体 CN Heavy</vt:lpstr>
      <vt:lpstr>方正黑体_GBK</vt:lpstr>
      <vt:lpstr>思源黑体 CN Regular</vt:lpstr>
      <vt:lpstr>华文中宋</vt:lpstr>
      <vt:lpstr>Calibri Light</vt:lpstr>
      <vt:lpstr>华文楷体</vt:lpstr>
      <vt:lpstr>微软雅黑</vt:lpstr>
      <vt:lpstr>宋体</vt:lpstr>
      <vt:lpstr>Arial Unicode MS</vt:lpstr>
      <vt:lpstr>Calibri</vt:lpstr>
      <vt:lpstr>华文仿宋</vt:lpstr>
      <vt:lpstr>方正楷体_GBK</vt:lpstr>
      <vt:lpstr>方正仿宋_GBK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86181</dc:creator>
  <cp:lastModifiedBy>root</cp:lastModifiedBy>
  <cp:revision>26</cp:revision>
  <dcterms:created xsi:type="dcterms:W3CDTF">2026-01-19T13:07:31Z</dcterms:created>
  <dcterms:modified xsi:type="dcterms:W3CDTF">2026-01-19T13:07:31Z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KSOTemplateUUID">
    <vt:lpwstr>v1.0_mb_FR4vU9H+zFkmatbzijbVsg==</vt:lpwstr>
  </property>
  <property fmtid="{D5CDD505-2E9C-101B-9397-08002B2CF9AE}" pid="4" name="ICV">
    <vt:lpwstr>4F6829FA03254E4393C2F318C0640F6F_13</vt:lpwstr>
  </property>
</Properties>
</file>